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FE7D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FE7D7"/>
                </a:solidFill>
                <a:latin typeface="Calibri"/>
              </a:rPr>
              <a:t>Accuracy by question category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Correct</c:v>
                </c:pt>
              </c:strCache>
            </c:strRef>
          </c:tx>
          <c:spPr>
            <a:solidFill>
              <a:srgbClr val="F986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FE7D7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Procedure</c:v>
                  </c:pt>
                  <c:pt idx="1">
                    <c:v>Capsule</c:v>
                  </c:pt>
                  <c:pt idx="2">
                    <c:v>Factual</c:v>
                  </c:pt>
                  <c:pt idx="3">
                    <c:v>Failure</c:v>
                  </c:pt>
                  <c:pt idx="4">
                    <c:v>Cliff</c:v>
                  </c:pt>
                  <c:pt idx="5">
                    <c:v>Compliance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75</c:v>
                </c:pt>
                <c:pt idx="2">
                  <c:v>57</c:v>
                </c:pt>
                <c:pt idx="3">
                  <c:v>50</c:v>
                </c:pt>
                <c:pt idx="4">
                  <c:v>50</c:v>
                </c:pt>
                <c:pt idx="5">
                  <c:v>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FE7D7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4A28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2011680"/>
            <a:ext cx="6217920" cy="6217920"/>
          </a:xfrm>
          <a:prstGeom prst="ellipse">
            <a:avLst/>
          </a:prstGeom>
          <a:solidFill>
            <a:srgbClr val="1F1913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291840"/>
            <a:ext cx="4114800" cy="4114800"/>
          </a:xfrm>
          <a:prstGeom prst="ellipse">
            <a:avLst/>
          </a:prstGeom>
          <a:solidFill>
            <a:srgbClr val="140F0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98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 AI HACKATHON 2026  //  PROBLEM STATEMENT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GyanVriksh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FE7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Tree of Knowledge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Industrial Knowledge Intelligence Platform - capturing, connecting and preserving the expertise that keeps India's process plants running.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65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 dastaavez ka gyan. Har sawaal ka jawaab.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98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01  // 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FE7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knowledge cliff is coming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refineries and chemical plants, the engineers who hold decades of hard-won repair wisdom are retiring. Their knowledge lives in their heads - not in any manual. When they leave, it is lost forever.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3383280" cy="2194560"/>
          </a:xfrm>
          <a:prstGeom prst="rect">
            <a:avLst/>
          </a:prstGeom>
          <a:solidFill>
            <a:srgbClr val="17130F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474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25+ yrs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480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E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tacit expertise per retiring veteran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3200400"/>
            <a:ext cx="3383280" cy="2194560"/>
          </a:xfrm>
          <a:prstGeom prst="rect">
            <a:avLst/>
          </a:prstGeom>
          <a:solidFill>
            <a:srgbClr val="17130F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3474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480560" y="4480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E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it captured in searchable form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55280" y="3200400"/>
            <a:ext cx="3383280" cy="2194560"/>
          </a:xfrm>
          <a:prstGeom prst="rect">
            <a:avLst/>
          </a:prstGeom>
          <a:solidFill>
            <a:srgbClr val="17130F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3474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Crores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138160" y="4480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E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downtime when the wrong fix is applied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65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Manuals don't capture it. Nobody wrote it down. And the clock is ticking.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98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02  //  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mind you can simply ask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FE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GyanVriksh unifies every SOP, work order, incident, regulation and veteran's spoken insight into a single intelligence that any worker can question - in English, Hindi or Hinglish - and get a trustworthy, cited answer.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2514600" cy="2377440"/>
          </a:xfrm>
          <a:prstGeom prst="rect">
            <a:avLst/>
          </a:prstGeom>
          <a:solidFill>
            <a:srgbClr val="1F1913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3520440"/>
            <a:ext cx="457200" cy="457200"/>
          </a:xfrm>
          <a:prstGeom prst="ellipse">
            <a:avLst/>
          </a:prstGeom>
          <a:solidFill>
            <a:srgbClr val="F9861A"/>
          </a:solidFill>
          <a:ln w="12700">
            <a:solidFill>
              <a:srgbClr val="FFA2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0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45720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documents, records &amp; expert voice recordings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3291840"/>
            <a:ext cx="2514600" cy="2377440"/>
          </a:xfrm>
          <a:prstGeom prst="rect">
            <a:avLst/>
          </a:prstGeom>
          <a:solidFill>
            <a:srgbClr val="1F1913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3520440"/>
            <a:ext cx="457200" cy="457200"/>
          </a:xfrm>
          <a:prstGeom prst="ellipse">
            <a:avLst/>
          </a:prstGeom>
          <a:solidFill>
            <a:srgbClr val="F9861A"/>
          </a:solidFill>
          <a:ln w="12700">
            <a:solidFill>
              <a:srgbClr val="FFA2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0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4160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611880" y="45720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it all in a living knowledge graph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3291840"/>
            <a:ext cx="2514600" cy="2377440"/>
          </a:xfrm>
          <a:prstGeom prst="rect">
            <a:avLst/>
          </a:prstGeom>
          <a:solidFill>
            <a:srgbClr val="1F1913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3520440"/>
            <a:ext cx="457200" cy="457200"/>
          </a:xfrm>
          <a:prstGeom prst="ellipse">
            <a:avLst/>
          </a:prstGeom>
          <a:solidFill>
            <a:srgbClr val="F9861A"/>
          </a:solidFill>
          <a:ln w="12700">
            <a:solidFill>
              <a:srgbClr val="FFA2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0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4160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355080" y="45720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cited answers in your language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69680" y="3291840"/>
            <a:ext cx="2514600" cy="2377440"/>
          </a:xfrm>
          <a:prstGeom prst="rect">
            <a:avLst/>
          </a:prstGeom>
          <a:solidFill>
            <a:srgbClr val="1F1913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8280" y="3520440"/>
            <a:ext cx="457200" cy="457200"/>
          </a:xfrm>
          <a:prstGeom prst="ellipse">
            <a:avLst/>
          </a:prstGeom>
          <a:solidFill>
            <a:srgbClr val="F9861A"/>
          </a:solidFill>
          <a:ln w="12700">
            <a:solidFill>
              <a:srgbClr val="FFA2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0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98280" y="4160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Preserve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098280" y="45720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retiring experts before they leave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98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03  //  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E7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documents to a cited answer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057400" cy="2926080"/>
          </a:xfrm>
          <a:prstGeom prst="rect">
            <a:avLst/>
          </a:prstGeom>
          <a:solidFill>
            <a:srgbClr val="17130F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F9861A"/>
          </a:solidFill>
          <a:ln w="12700">
            <a:solidFill>
              <a:srgbClr val="FFA2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0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scanned OCR streamed through a Kafka 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15184" y="32004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6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80360" y="2011680"/>
            <a:ext cx="2057400" cy="2926080"/>
          </a:xfrm>
          <a:prstGeom prst="rect">
            <a:avLst/>
          </a:prstGeom>
          <a:solidFill>
            <a:srgbClr val="1F1913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2240280"/>
            <a:ext cx="502920" cy="502920"/>
          </a:xfrm>
          <a:prstGeom prst="ellipse">
            <a:avLst/>
          </a:prstGeom>
          <a:solidFill>
            <a:srgbClr val="F9861A"/>
          </a:solidFill>
          <a:ln w="12700">
            <a:solidFill>
              <a:srgbClr val="FFA2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0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63240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63240" y="338328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BERT NER tags 12 industrial entity types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55464" y="32004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6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120640" y="2011680"/>
            <a:ext cx="2057400" cy="2926080"/>
          </a:xfrm>
          <a:prstGeom prst="rect">
            <a:avLst/>
          </a:prstGeom>
          <a:solidFill>
            <a:srgbClr val="17130F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0" y="2240280"/>
            <a:ext cx="502920" cy="502920"/>
          </a:xfrm>
          <a:prstGeom prst="ellipse">
            <a:avLst/>
          </a:prstGeom>
          <a:solidFill>
            <a:srgbClr val="F9861A"/>
          </a:solidFill>
          <a:ln w="12700">
            <a:solidFill>
              <a:srgbClr val="FFA2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0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03520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03520" y="338328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knowledge graph + Qdrant hybrid vectors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95744" y="32004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6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360920" y="2011680"/>
            <a:ext cx="2057400" cy="2926080"/>
          </a:xfrm>
          <a:prstGeom prst="rect">
            <a:avLst/>
          </a:prstGeom>
          <a:solidFill>
            <a:srgbClr val="1F1913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43800" y="2240280"/>
            <a:ext cx="502920" cy="502920"/>
          </a:xfrm>
          <a:prstGeom prst="ellipse">
            <a:avLst/>
          </a:prstGeom>
          <a:solidFill>
            <a:srgbClr val="F9861A"/>
          </a:solidFill>
          <a:ln w="12700">
            <a:solidFill>
              <a:srgbClr val="FFA2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0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43800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43800" y="338328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sparse + graph, fused by reciprocal-rank fusion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36024" y="32004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6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601200" y="2011680"/>
            <a:ext cx="2057400" cy="2926080"/>
          </a:xfrm>
          <a:prstGeom prst="rect">
            <a:avLst/>
          </a:prstGeom>
          <a:solidFill>
            <a:srgbClr val="17130F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84080" y="2240280"/>
            <a:ext cx="502920" cy="502920"/>
          </a:xfrm>
          <a:prstGeom prst="ellipse">
            <a:avLst/>
          </a:prstGeom>
          <a:solidFill>
            <a:srgbClr val="F9861A"/>
          </a:solidFill>
          <a:ln w="12700">
            <a:solidFill>
              <a:srgbClr val="FFA2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840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0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784080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784080" y="338328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the reply with a citation for every claim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5486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65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runs on-premise via Docker - no data leaves the plant.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98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capabilities, one knowledge base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1920240"/>
          </a:xfrm>
          <a:prstGeom prst="rect">
            <a:avLst/>
          </a:prstGeom>
          <a:solidFill>
            <a:srgbClr val="1F1913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320040" cy="320040"/>
          </a:xfrm>
          <a:prstGeom prst="ellipse">
            <a:avLst/>
          </a:prstGeom>
          <a:solidFill>
            <a:srgbClr val="F9861A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7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 Copilot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anything; watch a live reasoning trace; answers cited to doc &amp; page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429000" cy="1920240"/>
          </a:xfrm>
          <a:prstGeom prst="rect">
            <a:avLst/>
          </a:prstGeom>
          <a:solidFill>
            <a:srgbClr val="1F1913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2057400"/>
            <a:ext cx="320040" cy="320040"/>
          </a:xfrm>
          <a:prstGeom prst="ellipse">
            <a:avLst/>
          </a:prstGeom>
          <a:solidFill>
            <a:srgbClr val="F9861A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7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Knowledge Graph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plant; nodes light up to show the evidence behind each answer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1828800"/>
            <a:ext cx="3429000" cy="1920240"/>
          </a:xfrm>
          <a:prstGeom prst="rect">
            <a:avLst/>
          </a:prstGeom>
          <a:solidFill>
            <a:srgbClr val="1F1913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2057400"/>
            <a:ext cx="320040" cy="320040"/>
          </a:xfrm>
          <a:prstGeom prst="ellipse">
            <a:avLst/>
          </a:prstGeom>
          <a:solidFill>
            <a:srgbClr val="F9861A"/>
          </a:solidFill>
          <a:ln/>
        </p:spPr>
      </p:sp>
      <p:sp>
        <p:nvSpPr>
          <p:cNvPr id="14" name="Text 12"/>
          <p:cNvSpPr/>
          <p:nvPr/>
        </p:nvSpPr>
        <p:spPr>
          <a:xfrm>
            <a:off x="864108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7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Cliff Radar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83880" y="2606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expertise is retiring soon and which equipment is unpreserved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3429000" cy="1920240"/>
          </a:xfrm>
          <a:prstGeom prst="rect">
            <a:avLst/>
          </a:prstGeom>
          <a:solidFill>
            <a:srgbClr val="1F1913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206240"/>
            <a:ext cx="320040" cy="320040"/>
          </a:xfrm>
          <a:prstGeom prst="ellipse">
            <a:avLst/>
          </a:prstGeom>
          <a:solidFill>
            <a:srgbClr val="F9861A"/>
          </a:solidFill>
          <a:ln/>
        </p:spPr>
      </p:sp>
      <p:sp>
        <p:nvSpPr>
          <p:cNvPr id="18" name="Text 16"/>
          <p:cNvSpPr/>
          <p:nvPr/>
        </p:nvSpPr>
        <p:spPr>
          <a:xfrm>
            <a:off x="132588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7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Check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754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gap-analysis against OISD, Factories Act &amp; PESO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0" y="3977640"/>
            <a:ext cx="3429000" cy="1920240"/>
          </a:xfrm>
          <a:prstGeom prst="rect">
            <a:avLst/>
          </a:prstGeom>
          <a:solidFill>
            <a:srgbClr val="1F1913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6280" y="4206240"/>
            <a:ext cx="320040" cy="320040"/>
          </a:xfrm>
          <a:prstGeom prst="ellipse">
            <a:avLst/>
          </a:prstGeom>
          <a:solidFill>
            <a:srgbClr val="F9861A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7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Maintenance Intel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26280" y="4754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root-cause analysis and predictive equipment health scores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955280" y="3977640"/>
            <a:ext cx="3429000" cy="1920240"/>
          </a:xfrm>
          <a:prstGeom prst="rect">
            <a:avLst/>
          </a:prstGeom>
          <a:solidFill>
            <a:srgbClr val="1F1913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4206240"/>
            <a:ext cx="320040" cy="320040"/>
          </a:xfrm>
          <a:prstGeom prst="ellipse">
            <a:avLst/>
          </a:prstGeom>
          <a:solidFill>
            <a:srgbClr val="F9861A"/>
          </a:solidFill>
          <a:ln/>
        </p:spPr>
      </p:sp>
      <p:sp>
        <p:nvSpPr>
          <p:cNvPr id="26" name="Text 24"/>
          <p:cNvSpPr/>
          <p:nvPr/>
        </p:nvSpPr>
        <p:spPr>
          <a:xfrm>
            <a:off x="864108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7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Preservation Studio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83880" y="4754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&amp; transcribe retiring experts into attributed knowledge capsules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98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MAKES IT DIFFERENT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E7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an LLM - real engineering underneath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325880"/>
          </a:xfrm>
          <a:prstGeom prst="rect">
            <a:avLst/>
          </a:prstGeom>
          <a:solidFill>
            <a:srgbClr val="1F1913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31720"/>
            <a:ext cx="548640" cy="548640"/>
          </a:xfrm>
          <a:prstGeom prst="ellipse">
            <a:avLst/>
          </a:prstGeom>
          <a:solidFill>
            <a:srgbClr val="F9861A"/>
          </a:solidFill>
          <a:ln w="12700">
            <a:solidFill>
              <a:srgbClr val="FFA2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0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83080" y="208483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own fine-tuned NER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783080" y="2487168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BERT model trained on 5,500 annotated sentences across 12 industrial entity types - ISA-5.1 tags, OISD refs, failure modes. Runs locally at zero API cost.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10881360" cy="1325880"/>
          </a:xfrm>
          <a:prstGeom prst="rect">
            <a:avLst/>
          </a:prstGeom>
          <a:solidFill>
            <a:srgbClr val="17130F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840480"/>
            <a:ext cx="548640" cy="548640"/>
          </a:xfrm>
          <a:prstGeom prst="ellipse">
            <a:avLst/>
          </a:prstGeom>
          <a:solidFill>
            <a:srgbClr val="F9861A"/>
          </a:solidFill>
          <a:ln w="12700">
            <a:solidFill>
              <a:srgbClr val="FFA2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0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83080" y="359359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living knowledge graph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83080" y="3995928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- work orders - incidents - people - regulations - SOPs. Answers cross-entity questions an LLM alone never could.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937760"/>
            <a:ext cx="10881360" cy="1325880"/>
          </a:xfrm>
          <a:prstGeom prst="rect">
            <a:avLst/>
          </a:prstGeom>
          <a:solidFill>
            <a:srgbClr val="1F1913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349240"/>
            <a:ext cx="548640" cy="548640"/>
          </a:xfrm>
          <a:prstGeom prst="ellipse">
            <a:avLst/>
          </a:prstGeom>
          <a:solidFill>
            <a:srgbClr val="F9861A"/>
          </a:solidFill>
          <a:ln w="12700">
            <a:solidFill>
              <a:srgbClr val="FFA2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349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0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83080" y="510235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Grounded, cited generation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783080" y="5504688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dense + sparse retrieval, reciprocal-rank fusion, and strict citation rules - every claim traceable, nothing hallucinated.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98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HEADLINE FEATURE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Preserving expertise before it walks out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766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FE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retiring engineer records what they know about a machine. GyanVriksh transcribes it (Whisper), turns it into a verified knowledge capsule attributed to them, and links it to the equipment - so the next generation can still ask the master.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0" y="1783080"/>
            <a:ext cx="3749040" cy="4023360"/>
          </a:xfrm>
          <a:prstGeom prst="rect">
            <a:avLst/>
          </a:prstGeom>
          <a:solidFill>
            <a:srgbClr val="1F1913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Cliff Radar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01000" y="2514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A2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00100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retiring within 3 yrs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01000" y="3566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A2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Equipment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00100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as unpreserved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01000" y="4617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A2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 history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001000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of being lost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303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65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Computed live from the graph - pure analytics, not the LLM.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98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MEASURED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E7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Benchmark: 100 questions, LLM-as-judge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14600" cy="1691640"/>
          </a:xfrm>
          <a:prstGeom prst="rect">
            <a:avLst/>
          </a:prstGeom>
          <a:solidFill>
            <a:srgbClr val="17130F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correct (incl. partial)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514600" cy="1691640"/>
          </a:xfrm>
          <a:prstGeom prst="rect">
            <a:avLst/>
          </a:prstGeom>
          <a:solidFill>
            <a:srgbClr val="1F1913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920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566160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carry a citation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2514600" cy="1691640"/>
          </a:xfrm>
          <a:prstGeom prst="rect">
            <a:avLst/>
          </a:prstGeom>
          <a:solidFill>
            <a:srgbClr val="17130F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920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09360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failures or crashes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9680" y="1783080"/>
            <a:ext cx="2514600" cy="1691640"/>
          </a:xfrm>
          <a:prstGeom prst="rect">
            <a:avLst/>
          </a:prstGeom>
          <a:solidFill>
            <a:srgbClr val="1F1913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1920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052560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latency (local CPU LLM)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40080" y="3703320"/>
          <a:ext cx="7406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8321040" y="3703320"/>
            <a:ext cx="3200400" cy="2743200"/>
          </a:xfrm>
          <a:prstGeom prst="rect">
            <a:avLst/>
          </a:prstGeom>
          <a:solidFill>
            <a:srgbClr val="17130F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49640" y="3886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2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note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549640" y="429768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local Ollama (Mistral-7B) numbers on a laptop CPU. With GPT-4o or a GPU, both accuracy and latency improve materially. 100% of answers were grounded in retrieved sources.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98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a production-grade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777240"/>
          </a:xfrm>
          <a:prstGeom prst="rect">
            <a:avLst/>
          </a:prstGeom>
          <a:solidFill>
            <a:srgbClr val="17130F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0" y="18288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7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- TypeScript - Vite - TailwindCSS - three.js (3D graph)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881360" cy="777240"/>
          </a:xfrm>
          <a:prstGeom prst="rect">
            <a:avLst/>
          </a:prstGeom>
          <a:solidFill>
            <a:srgbClr val="1F1913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27432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7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- Python 3.11 - Celery workers - WebSockets streaming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10881360" cy="777240"/>
          </a:xfrm>
          <a:prstGeom prst="rect">
            <a:avLst/>
          </a:prstGeom>
          <a:solidFill>
            <a:srgbClr val="17130F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657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36576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7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 - Neo4j - Qdrant - Redis - MinIO - Apache Kafka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10881360" cy="777240"/>
          </a:xfrm>
          <a:prstGeom prst="rect">
            <a:avLst/>
          </a:prstGeom>
          <a:solidFill>
            <a:srgbClr val="1F1913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572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/ ML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400" y="45720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7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Fine-tuned BERT NER - BGE-M3 / MiniLM embeddings - Whisper - GPT-4o / local Ollama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86400"/>
            <a:ext cx="10881360" cy="777240"/>
          </a:xfrm>
          <a:prstGeom prst="rect">
            <a:avLst/>
          </a:prstGeom>
          <a:solidFill>
            <a:srgbClr val="17130F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486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54864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7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 fully on-premise - Cloudflare tunnel for remote demo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98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04  //  WHY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E7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solution plants can actually adopt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03520" cy="1920240"/>
          </a:xfrm>
          <a:prstGeom prst="rect">
            <a:avLst/>
          </a:prstGeom>
          <a:solidFill>
            <a:srgbClr val="17130F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F9861A"/>
          </a:solidFill>
          <a:ln w="12700">
            <a:solidFill>
              <a:srgbClr val="FFA2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0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148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by design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on-premise with a local LLM. Plant data never leaves the site - critical for industrial security.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920240"/>
            <a:ext cx="5303520" cy="1920240"/>
          </a:xfrm>
          <a:prstGeom prst="rect">
            <a:avLst/>
          </a:prstGeom>
          <a:solidFill>
            <a:srgbClr val="17130F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148840"/>
            <a:ext cx="457200" cy="457200"/>
          </a:xfrm>
          <a:prstGeom prst="ellipse">
            <a:avLst/>
          </a:prstGeom>
          <a:solidFill>
            <a:srgbClr val="F9861A"/>
          </a:solidFill>
          <a:ln w="12700">
            <a:solidFill>
              <a:srgbClr val="FFA2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0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2148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API cost option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743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Ollama means it can run at no per-query cost, on hardware the plant already owns.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5303520" cy="1920240"/>
          </a:xfrm>
          <a:prstGeom prst="rect">
            <a:avLst/>
          </a:prstGeom>
          <a:solidFill>
            <a:srgbClr val="1F1913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297680"/>
            <a:ext cx="457200" cy="457200"/>
          </a:xfrm>
          <a:prstGeom prst="ellipse">
            <a:avLst/>
          </a:prstGeom>
          <a:solidFill>
            <a:srgbClr val="F9861A"/>
          </a:solidFill>
          <a:ln w="12700">
            <a:solidFill>
              <a:srgbClr val="FFA2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0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297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Trustworthy answers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4892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cited and confidence-scored. Operators can verify, not blindly trust.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4069080"/>
            <a:ext cx="5303520" cy="1920240"/>
          </a:xfrm>
          <a:prstGeom prst="rect">
            <a:avLst/>
          </a:prstGeom>
          <a:solidFill>
            <a:srgbClr val="1F1913"/>
          </a:solidFill>
          <a:ln w="9525">
            <a:solidFill>
              <a:srgbClr val="B865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297680"/>
            <a:ext cx="457200" cy="457200"/>
          </a:xfrm>
          <a:prstGeom prst="ellipse">
            <a:avLst/>
          </a:prstGeom>
          <a:solidFill>
            <a:srgbClr val="F9861A"/>
          </a:solidFill>
          <a:ln w="12700">
            <a:solidFill>
              <a:srgbClr val="FFA2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0F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4297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Solves a real, costly problem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4892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loss drives downtime, safety incidents and compliance gaps - GyanVriksh attacks all three.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2926080"/>
            <a:ext cx="5943600" cy="5943600"/>
          </a:xfrm>
          <a:prstGeom prst="ellipse">
            <a:avLst/>
          </a:prstGeom>
          <a:solidFill>
            <a:srgbClr val="1F191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98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GYANVRIKSH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986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Decades of knowledge, one question away.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FE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expertise that keeps a plant running should outlive the people who built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6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 AI Hackathon 2026  -  Problem Statement 8  -  Team GyanVriksh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2026-07-13T10:08:22Z</dcterms:created>
  <dcterms:modified xsi:type="dcterms:W3CDTF">2026-07-13T10:08:22Z</dcterms:modified>
</cp:coreProperties>
</file>